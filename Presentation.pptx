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2" r:id="rId16"/>
    <p:sldId id="276" r:id="rId17"/>
    <p:sldId id="271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2"/>
    <p:restoredTop sz="93450"/>
  </p:normalViewPr>
  <p:slideViewPr>
    <p:cSldViewPr snapToGrid="0">
      <p:cViewPr varScale="1">
        <p:scale>
          <a:sx n="125" d="100"/>
          <a:sy n="125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74DCC-926D-F04A-8F9A-84198117B9BC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2DB65-D6C0-AF48-A5FC-B53A847CE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3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DB65-D6C0-AF48-A5FC-B53A847CE1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81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11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9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25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0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90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4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3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77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0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8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2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6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DA72-3ADA-5629-B7A1-7BD035A0C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Personalized news recommendation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B115C-442F-1092-A996-4FA675253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404796"/>
            <a:ext cx="6801612" cy="123989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/>
              <a:t>Team members:</a:t>
            </a:r>
          </a:p>
          <a:p>
            <a:pPr algn="l"/>
            <a:r>
              <a:rPr lang="en-US" dirty="0"/>
              <a:t>Ann Rose Joju Edakkalathur</a:t>
            </a:r>
          </a:p>
          <a:p>
            <a:pPr algn="l"/>
            <a:r>
              <a:rPr lang="en-US" dirty="0"/>
              <a:t>Dong Gyu Noh</a:t>
            </a:r>
          </a:p>
          <a:p>
            <a:pPr algn="l"/>
            <a:r>
              <a:rPr lang="en-US" dirty="0"/>
              <a:t>Ravisankar Chengannagari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680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8C11-D26D-1357-1C7F-1C966454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7E510-BE71-2861-E848-13530C687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Thousands of articles are published daily.</a:t>
            </a:r>
          </a:p>
          <a:p>
            <a:r>
              <a:rPr lang="en-US" dirty="0"/>
              <a:t>Users spend limited time on apps.</a:t>
            </a:r>
          </a:p>
          <a:p>
            <a:r>
              <a:rPr lang="en-US" dirty="0"/>
              <a:t>Generic feeds fail to engage users.</a:t>
            </a:r>
          </a:p>
          <a:p>
            <a:r>
              <a:rPr lang="en-US" dirty="0"/>
              <a:t>News articles have short lifespans, relevance fades quickly</a:t>
            </a:r>
          </a:p>
          <a:p>
            <a:r>
              <a:rPr lang="en-US" dirty="0"/>
              <a:t>Users rarely rate articles, personalization must rely on implicit feedback (clicks)</a:t>
            </a:r>
          </a:p>
          <a:p>
            <a:r>
              <a:rPr lang="en-US" dirty="0"/>
              <a:t>Interests shift dynamically; models must adapt to changing behavior</a:t>
            </a:r>
          </a:p>
          <a:p>
            <a:r>
              <a:rPr lang="en-US" dirty="0"/>
              <a:t>The Goal: Build a system that suggests articles based on personal interests.</a:t>
            </a:r>
          </a:p>
        </p:txBody>
      </p:sp>
    </p:spTree>
    <p:extLst>
      <p:ext uri="{BB962C8B-B14F-4D97-AF65-F5344CB8AC3E}">
        <p14:creationId xmlns:p14="http://schemas.microsoft.com/office/powerpoint/2010/main" val="243416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EA3A-9804-1B1D-2032-6D6B1CC9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FF23-4D0F-86EC-CBC5-866CC75F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A1530-37E8-4F79-4DB6-AD4FF59E6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analyze user reading behavior.</a:t>
            </a:r>
          </a:p>
          <a:p>
            <a:r>
              <a:rPr lang="en-US" dirty="0"/>
              <a:t>To build different types of recommendation models (Traditional vs Deep Learning).</a:t>
            </a:r>
          </a:p>
          <a:p>
            <a:r>
              <a:rPr lang="en-US" dirty="0"/>
              <a:t>To compare which model predicts user clicks the best.</a:t>
            </a:r>
          </a:p>
          <a:p>
            <a:r>
              <a:rPr lang="en-US" dirty="0"/>
              <a:t>Handle implicit feedback and class imbalance</a:t>
            </a:r>
          </a:p>
          <a:p>
            <a:r>
              <a:rPr lang="en-US" dirty="0"/>
              <a:t>Capture both short-term and long-term user interests</a:t>
            </a:r>
          </a:p>
          <a:p>
            <a:r>
              <a:rPr lang="en-US" dirty="0"/>
              <a:t>Evaluate models using ranking metrics (AUC, MAP, NDCG)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35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D4B0E-1C18-4BE1-2442-0CDD0EDA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4683-A720-5359-863B-272EA3CC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63FE-4799-38CC-E5A2-7C3EAC3B3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Source: Microsoft News Dataset (MIND)</a:t>
            </a:r>
          </a:p>
          <a:p>
            <a:r>
              <a:rPr lang="en-US" dirty="0"/>
              <a:t>News Data: 50,000+ articles</a:t>
            </a:r>
          </a:p>
          <a:p>
            <a:r>
              <a:rPr lang="en-US" dirty="0"/>
              <a:t>User Data: 150,000+ interactions</a:t>
            </a:r>
          </a:p>
          <a:p>
            <a:r>
              <a:rPr lang="en-US" dirty="0"/>
              <a:t>Two files: news.tsv (article metadata), </a:t>
            </a:r>
            <a:r>
              <a:rPr lang="en-US" dirty="0" err="1"/>
              <a:t>behaviors.tsv</a:t>
            </a:r>
            <a:r>
              <a:rPr lang="en-US" dirty="0"/>
              <a:t> (user logs)</a:t>
            </a:r>
          </a:p>
          <a:p>
            <a:r>
              <a:rPr lang="en-US" dirty="0"/>
              <a:t>Rich textual fields: title, abstract, entities</a:t>
            </a:r>
          </a:p>
          <a:p>
            <a:r>
              <a:rPr lang="en-US" dirty="0"/>
              <a:t>Impression logs encode click vs non-click behavior</a:t>
            </a:r>
          </a:p>
        </p:txBody>
      </p:sp>
    </p:spTree>
    <p:extLst>
      <p:ext uri="{BB962C8B-B14F-4D97-AF65-F5344CB8AC3E}">
        <p14:creationId xmlns:p14="http://schemas.microsoft.com/office/powerpoint/2010/main" val="302212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C2194-C6B3-8C80-2111-1F33C4F38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2AE5-AE11-749C-C8AE-5463F9D5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sz="2600"/>
              <a:t>Data Analysis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BFA58-0C92-C1F6-CF17-9AD486438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r>
              <a:rPr lang="en-US" dirty="0"/>
              <a:t>Most popular categories: News, Sports, Finance.</a:t>
            </a:r>
          </a:p>
          <a:p>
            <a:r>
              <a:rPr lang="en-US" dirty="0"/>
              <a:t>Least popular: Kids, Middle East.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showing a distribution of news categories&#10;&#10;AI-generated content may be incorrect.">
            <a:extLst>
              <a:ext uri="{FF2B5EF4-FFF2-40B4-BE49-F238E27FC236}">
                <a16:creationId xmlns:a16="http://schemas.microsoft.com/office/drawing/2014/main" id="{5D6FF2C5-7BEA-2B90-065A-10515CC94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366" y="2047450"/>
            <a:ext cx="6227064" cy="277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14CD-27A3-96B0-1D4B-4D866368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8587-6D2B-6084-D756-836AD897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7657F-1453-60BA-DA21-C899B5948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Cleaning</a:t>
            </a:r>
          </a:p>
          <a:p>
            <a:pPr lvl="2"/>
            <a:r>
              <a:rPr lang="en-US" dirty="0"/>
              <a:t>Removed punctuations,</a:t>
            </a:r>
          </a:p>
          <a:p>
            <a:pPr lvl="2"/>
            <a:r>
              <a:rPr lang="en-US" dirty="0"/>
              <a:t>lowercase conversion</a:t>
            </a:r>
          </a:p>
          <a:p>
            <a:r>
              <a:rPr lang="en-US" dirty="0"/>
              <a:t>Tokenization</a:t>
            </a:r>
          </a:p>
          <a:p>
            <a:r>
              <a:rPr lang="en-US" dirty="0"/>
              <a:t>Padding: Made all titles the same length for models.</a:t>
            </a:r>
          </a:p>
        </p:txBody>
      </p:sp>
    </p:spTree>
    <p:extLst>
      <p:ext uri="{BB962C8B-B14F-4D97-AF65-F5344CB8AC3E}">
        <p14:creationId xmlns:p14="http://schemas.microsoft.com/office/powerpoint/2010/main" val="101271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4262-CC71-A3EB-B69B-CBCD6C94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257F-56E6-8267-41D1-9461493D9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</a:t>
            </a:r>
          </a:p>
          <a:p>
            <a:pPr lvl="2"/>
            <a:r>
              <a:rPr lang="en-US" dirty="0"/>
              <a:t>Popularity Based</a:t>
            </a:r>
          </a:p>
          <a:p>
            <a:r>
              <a:rPr lang="en-US" dirty="0"/>
              <a:t>Traditional</a:t>
            </a:r>
          </a:p>
          <a:p>
            <a:pPr lvl="2"/>
            <a:r>
              <a:rPr lang="en-US" dirty="0"/>
              <a:t>Content-Based</a:t>
            </a:r>
          </a:p>
          <a:p>
            <a:pPr lvl="2"/>
            <a:r>
              <a:rPr lang="en-US" dirty="0"/>
              <a:t>Collaborative Filtering</a:t>
            </a:r>
          </a:p>
          <a:p>
            <a:r>
              <a:rPr lang="en-US" dirty="0"/>
              <a:t>Advanced (Deep Learning)</a:t>
            </a:r>
          </a:p>
          <a:p>
            <a:pPr lvl="2"/>
            <a:r>
              <a:rPr lang="en-US" dirty="0"/>
              <a:t>RNN, LSTM, Bi-LSTM</a:t>
            </a:r>
          </a:p>
          <a:p>
            <a:pPr lvl="2"/>
            <a:r>
              <a:rPr lang="en-US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333827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65C0-E75C-BEC1-5637-E60D11C4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/>
              <a:t>Model 1&amp;2: Popularity and Content-based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570BF-E135-7271-D3EA-7231EDBC5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92" y="2638044"/>
            <a:ext cx="3631692" cy="3101983"/>
          </a:xfrm>
        </p:spPr>
        <p:txBody>
          <a:bodyPr>
            <a:normAutofit/>
          </a:bodyPr>
          <a:lstStyle/>
          <a:p>
            <a:r>
              <a:rPr lang="en-US" dirty="0"/>
              <a:t>Popularity: Recommends what everyone else is clicking. (Simple, but not personalized)</a:t>
            </a:r>
          </a:p>
          <a:p>
            <a:r>
              <a:rPr lang="en-US" dirty="0"/>
              <a:t>Content-Based: ‘If you read sports, we show you sports.’</a:t>
            </a:r>
          </a:p>
          <a:p>
            <a:pPr lvl="2"/>
            <a:r>
              <a:rPr lang="en-US" dirty="0"/>
              <a:t>Technique: Used TF-IDF and Word2Vec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A81D36-E15E-4BF8-936C-883B11DE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8316" y="2743200"/>
            <a:ext cx="3622548" cy="2996827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793C47-93A8-40BA-A9B7-BBA12F48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3670" y="2906589"/>
            <a:ext cx="3291840" cy="2670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CE1D8D-52BA-DF5A-73C0-9D128DFC0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62" y="3356520"/>
            <a:ext cx="2962656" cy="177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10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95711-C255-53CD-FB51-761C671F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B01F-EF23-E068-B286-30886A65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Model 3: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9BBDC-F12F-6E76-0AE6-8E2F7ABB6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92" y="2638044"/>
            <a:ext cx="3631692" cy="3101983"/>
          </a:xfrm>
        </p:spPr>
        <p:txBody>
          <a:bodyPr>
            <a:normAutofit/>
          </a:bodyPr>
          <a:lstStyle/>
          <a:p>
            <a:r>
              <a:rPr lang="en-US" dirty="0"/>
              <a:t>Idea: “Users similar to you liked this.”</a:t>
            </a:r>
          </a:p>
          <a:p>
            <a:r>
              <a:rPr lang="en-US" dirty="0"/>
              <a:t>Method: Singular Value Decomposition (SVD).</a:t>
            </a:r>
          </a:p>
          <a:p>
            <a:r>
              <a:rPr lang="en-US" dirty="0"/>
              <a:t>Result: Good at finding hidden patterns but struggles with new articles.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A81D36-E15E-4BF8-936C-883B11DE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8316" y="2743200"/>
            <a:ext cx="3622548" cy="2996827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793C47-93A8-40BA-A9B7-BBA12F48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3670" y="2906589"/>
            <a:ext cx="3291840" cy="2670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15ECA60-4012-D8A2-DC0E-81A6D2ECD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62" y="3535850"/>
            <a:ext cx="2962656" cy="141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5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82C8-DF6D-B3B6-977C-F0959F69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B2D07-8002-EEDF-F661-0F72F5FC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Treats reading history as a sequence.</a:t>
            </a:r>
          </a:p>
          <a:p>
            <a:r>
              <a:rPr lang="en-US" dirty="0"/>
              <a:t>Order matters: What you read yesterday impacts what you want today.</a:t>
            </a:r>
          </a:p>
          <a:p>
            <a:r>
              <a:rPr lang="en-US" dirty="0"/>
              <a:t>Used “Word Embeddings” to represent news titles.</a:t>
            </a:r>
          </a:p>
        </p:txBody>
      </p:sp>
    </p:spTree>
    <p:extLst>
      <p:ext uri="{BB962C8B-B14F-4D97-AF65-F5344CB8AC3E}">
        <p14:creationId xmlns:p14="http://schemas.microsoft.com/office/powerpoint/2010/main" val="1399180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07CF9-6ED8-F3E6-DCFE-A8A90AEA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4BC3-47D3-994C-A903-9465A958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en-US" dirty="0"/>
              <a:t>Model 4 &amp; 5: Hybrid RNN AND LSTM</a:t>
            </a:r>
          </a:p>
        </p:txBody>
      </p:sp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BD00E77-CD3B-489C-BB08-A25861CD7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" y="1233177"/>
            <a:ext cx="3277342" cy="1561455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24E2A4F-14FC-5EB5-0D3E-A3A735C25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53900"/>
            <a:ext cx="3277342" cy="1561455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7E890-4D8C-C780-005C-6DA677A98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46" y="2475145"/>
            <a:ext cx="6142233" cy="3409259"/>
          </a:xfrm>
        </p:spPr>
        <p:txBody>
          <a:bodyPr>
            <a:normAutofit/>
          </a:bodyPr>
          <a:lstStyle/>
          <a:p>
            <a:r>
              <a:rPr lang="en-US" dirty="0"/>
              <a:t>RNN (Recurrent Neural Network): Basic memory of past clicks.</a:t>
            </a:r>
          </a:p>
          <a:p>
            <a:r>
              <a:rPr lang="en-US" dirty="0"/>
              <a:t>LSTM (Long Short-Term Memory): Can remember long-term interests (e.g., you always like Politics) and short-term interests (e.g., you are following the Olympics right now).</a:t>
            </a:r>
          </a:p>
        </p:txBody>
      </p:sp>
    </p:spTree>
    <p:extLst>
      <p:ext uri="{BB962C8B-B14F-4D97-AF65-F5344CB8AC3E}">
        <p14:creationId xmlns:p14="http://schemas.microsoft.com/office/powerpoint/2010/main" val="1185926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032B-A1CB-A883-D7C2-6AB3D2D8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Model 6: Hybrid Bi-LSTM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6A66-CB05-9A7F-B4C3-7D49252C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92" y="2638044"/>
            <a:ext cx="3631692" cy="3101983"/>
          </a:xfrm>
        </p:spPr>
        <p:txBody>
          <a:bodyPr>
            <a:normAutofit/>
          </a:bodyPr>
          <a:lstStyle/>
          <a:p>
            <a:r>
              <a:rPr lang="en-US" dirty="0"/>
              <a:t>Bi-Directional LSTM: Reads the history forwards and backwards.</a:t>
            </a:r>
          </a:p>
          <a:p>
            <a:r>
              <a:rPr lang="en-US" dirty="0"/>
              <a:t>Benefit: Understands the context better than the standard LSTM.</a:t>
            </a:r>
          </a:p>
          <a:p>
            <a:r>
              <a:rPr lang="en-US" dirty="0"/>
              <a:t>Result: Almost same result as LSTM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A81D36-E15E-4BF8-936C-883B11DE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8316" y="2743200"/>
            <a:ext cx="3622548" cy="2996827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793C47-93A8-40BA-A9B7-BBA12F48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3670" y="2906589"/>
            <a:ext cx="3291840" cy="2670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D32ACC-EC2A-9FDC-B42E-A5F0FFE79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62" y="3535850"/>
            <a:ext cx="2962656" cy="141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34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61E6-CA2D-4FA5-DAB9-69BEF85B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Model 7: Transformer (NRMS)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FBE2B-7CE8-B1CE-C1AF-D55ADFA50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92" y="2638044"/>
            <a:ext cx="3631692" cy="3101983"/>
          </a:xfrm>
        </p:spPr>
        <p:txBody>
          <a:bodyPr>
            <a:normAutofit/>
          </a:bodyPr>
          <a:lstStyle/>
          <a:p>
            <a:r>
              <a:rPr lang="en-US" dirty="0"/>
              <a:t>Neural News Recommendation with Multi-Head Self-Attention</a:t>
            </a:r>
          </a:p>
          <a:p>
            <a:r>
              <a:rPr lang="en-US" dirty="0"/>
              <a:t>It weighs which past articles are most important for the current prediction.</a:t>
            </a:r>
          </a:p>
          <a:p>
            <a:r>
              <a:rPr lang="en-US" dirty="0"/>
              <a:t>Performance: The strongest model in our experiment.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A81D36-E15E-4BF8-936C-883B11DE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8316" y="2743200"/>
            <a:ext cx="3622548" cy="2996827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793C47-93A8-40BA-A9B7-BBA12F48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3670" y="2906589"/>
            <a:ext cx="3291840" cy="2670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60F4E06-924A-CCBC-7D23-C811D7068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62" y="3863875"/>
            <a:ext cx="2962656" cy="75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51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FED30-1F95-3284-1A1F-914D14225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81F70-BA1F-42B1-FE41-200D75C67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Model 7: Transformer (NRMS)</a:t>
            </a:r>
          </a:p>
        </p:txBody>
      </p:sp>
      <p:pic>
        <p:nvPicPr>
          <p:cNvPr id="4" name="Content Placeholder 3" descr="A graph of a graph with red and blue lines&#10;&#10;AI-generated content may be incorrect.">
            <a:extLst>
              <a:ext uri="{FF2B5EF4-FFF2-40B4-BE49-F238E27FC236}">
                <a16:creationId xmlns:a16="http://schemas.microsoft.com/office/drawing/2014/main" id="{740C9208-FA59-AF62-9679-43D62B612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44752" y="2527511"/>
            <a:ext cx="9314170" cy="284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18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AA2C-2EC5-606E-9CBE-829B7127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Results comparison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54F75F-D47A-CABC-A899-D42931316B01}"/>
              </a:ext>
            </a:extLst>
          </p:cNvPr>
          <p:cNvSpPr txBox="1"/>
          <p:nvPr/>
        </p:nvSpPr>
        <p:spPr>
          <a:xfrm>
            <a:off x="1148615" y="4352544"/>
            <a:ext cx="3798770" cy="1239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  <a:buClr>
                <a:schemeClr val="accent2"/>
              </a:buCl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NRMS got 0.65 approx.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0F143B-3981-4FC2-BB15-0C5867633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E505716-D086-B052-BE26-7F8B40480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696" y="640080"/>
            <a:ext cx="2991558" cy="2544223"/>
          </a:xfrm>
          <a:prstGeom prst="rect">
            <a:avLst/>
          </a:prstGeom>
        </p:spPr>
      </p:pic>
      <p:pic>
        <p:nvPicPr>
          <p:cNvPr id="20" name="Picture 1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92E684B-266B-F8D2-B7C3-2664E28C5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0" y="3671316"/>
            <a:ext cx="4818890" cy="122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89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E54C1-8519-7CF7-175D-E12759AC7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27DD-C139-EFF1-1CAC-2A192BA50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1220009"/>
            <a:ext cx="3211068" cy="1043363"/>
          </a:xfrm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2200" dirty="0"/>
              <a:t>Results comparison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AD05CF-1CD8-2706-600A-C98D66239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7C7E73-069D-A863-A69E-B56B2497D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13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674C78EE-1B03-15DE-D549-2C0FC6E43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1220009"/>
            <a:ext cx="5925312" cy="4103276"/>
          </a:xfrm>
          <a:prstGeom prst="rect">
            <a:avLst/>
          </a:prstGeom>
        </p:spPr>
      </p:pic>
      <p:pic>
        <p:nvPicPr>
          <p:cNvPr id="20" name="Picture 1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DCE6CD3-76D1-F7E4-9E7D-D8FA150C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96" y="4041540"/>
            <a:ext cx="3211068" cy="8220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F10390F-9D22-721F-444D-883F42AADFF7}"/>
              </a:ext>
            </a:extLst>
          </p:cNvPr>
          <p:cNvSpPr txBox="1"/>
          <p:nvPr/>
        </p:nvSpPr>
        <p:spPr>
          <a:xfrm>
            <a:off x="806196" y="3244334"/>
            <a:ext cx="321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model got 0.65 approx.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2D77B3-7BE3-4DAA-B13A-96845035873E}"/>
              </a:ext>
            </a:extLst>
          </p:cNvPr>
          <p:cNvSpPr txBox="1"/>
          <p:nvPr/>
        </p:nvSpPr>
        <p:spPr>
          <a:xfrm>
            <a:off x="4820411" y="6045255"/>
            <a:ext cx="67315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Paper: User Recommendation System based on MIND Dataset, Niran A. Abdulhussein, Ahmed J. Obaid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40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A7A5286-A2A9-B393-1C71-869775D0F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27"/>
          <a:stretch>
            <a:fillRect/>
          </a:stretch>
        </p:blipFill>
        <p:spPr>
          <a:xfrm>
            <a:off x="321731" y="1620730"/>
            <a:ext cx="4671595" cy="123797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CD3F51F-E0F2-41F0-9EAD-111C87DFF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E30DA-41F8-D672-0742-C84685B6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732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Challenges faced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6B41506-4C1D-DCAE-52C8-03B380789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1" y="3380311"/>
            <a:ext cx="4671595" cy="1237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4FD12-C348-AE0E-900D-91D323545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9732" y="2858703"/>
            <a:ext cx="5285791" cy="304254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Imbalance</a:t>
            </a:r>
          </a:p>
          <a:p>
            <a:pPr lvl="2"/>
            <a:r>
              <a:rPr lang="en-US">
                <a:solidFill>
                  <a:srgbClr val="FFFFFF"/>
                </a:solidFill>
              </a:rPr>
              <a:t>More non-clicks than clicks.</a:t>
            </a:r>
          </a:p>
          <a:p>
            <a:r>
              <a:rPr lang="en-US">
                <a:solidFill>
                  <a:srgbClr val="FFFFFF"/>
                </a:solidFill>
              </a:rPr>
              <a:t>Computation</a:t>
            </a:r>
          </a:p>
          <a:p>
            <a:pPr lvl="2"/>
            <a:r>
              <a:rPr lang="en-US">
                <a:solidFill>
                  <a:srgbClr val="FFFFFF"/>
                </a:solidFill>
              </a:rPr>
              <a:t>Deep learning models take a long time to train.</a:t>
            </a:r>
          </a:p>
        </p:txBody>
      </p:sp>
    </p:spTree>
    <p:extLst>
      <p:ext uri="{BB962C8B-B14F-4D97-AF65-F5344CB8AC3E}">
        <p14:creationId xmlns:p14="http://schemas.microsoft.com/office/powerpoint/2010/main" val="1178796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960F-6DE4-7679-7C40-EDE792F24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22771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D7D60-E8CC-D6E3-3ED6-DFC701706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021B4ECF-7C45-14FC-50A9-F200899CC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4268" y="1122807"/>
            <a:ext cx="429768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3535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3127</TotalTime>
  <Words>559</Words>
  <Application>Microsoft Macintosh PowerPoint</Application>
  <PresentationFormat>Widescreen</PresentationFormat>
  <Paragraphs>82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Gill Sans MT</vt:lpstr>
      <vt:lpstr>Parcel</vt:lpstr>
      <vt:lpstr>Personalized news recommendation system</vt:lpstr>
      <vt:lpstr>The Problem</vt:lpstr>
      <vt:lpstr>Project Objective</vt:lpstr>
      <vt:lpstr>Dataset overview</vt:lpstr>
      <vt:lpstr>Data Analysis - Categories</vt:lpstr>
      <vt:lpstr>Data Preprocessing</vt:lpstr>
      <vt:lpstr>Methodology</vt:lpstr>
      <vt:lpstr>Model 1&amp;2: Popularity and Content-based</vt:lpstr>
      <vt:lpstr>Model 3: Collaborative Filtering</vt:lpstr>
      <vt:lpstr>Deep Learning</vt:lpstr>
      <vt:lpstr>Model 4 &amp; 5: Hybrid RNN AND LSTM</vt:lpstr>
      <vt:lpstr>Model 6: Hybrid Bi-LSTM</vt:lpstr>
      <vt:lpstr>Model 7: Transformer (NRMS)</vt:lpstr>
      <vt:lpstr>Model 7: Transformer (NRMS)</vt:lpstr>
      <vt:lpstr>Results comparison</vt:lpstr>
      <vt:lpstr>Results comparison</vt:lpstr>
      <vt:lpstr>Challenges faced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Ravisankar Chengannagari [student]</dc:creator>
  <cp:lastModifiedBy>Ravisankar Chengannagari [student]</cp:lastModifiedBy>
  <cp:revision>10</cp:revision>
  <dcterms:created xsi:type="dcterms:W3CDTF">2025-12-08T21:41:11Z</dcterms:created>
  <dcterms:modified xsi:type="dcterms:W3CDTF">2025-12-13T17:33:23Z</dcterms:modified>
</cp:coreProperties>
</file>